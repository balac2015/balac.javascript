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6" r:id="rId6"/>
    <p:sldId id="262" r:id="rId7"/>
    <p:sldId id="260" r:id="rId8"/>
    <p:sldId id="261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A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105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57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48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171852"/>
            <a:ext cx="5181600" cy="500511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171852"/>
            <a:ext cx="5181600" cy="500511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629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5346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28527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109185"/>
            <a:ext cx="5157787" cy="40804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527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9185"/>
            <a:ext cx="5183188" cy="40804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635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33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9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7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71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CA8D4-3E9F-4E75-B57D-EC02FF9E9045}" type="datetimeFigureOut">
              <a:rPr lang="zh-CN" altLang="en-US" smtClean="0"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CB0D2-8468-4F88-B87E-C132988A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45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180730"/>
            <a:ext cx="10515600" cy="499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CBCA8D4-3E9F-4E75-B57D-EC02FF9E9045}" type="datetimeFigureOut">
              <a:rPr lang="zh-CN" altLang="en-US" smtClean="0"/>
              <a:pPr/>
              <a:t>2015/10/20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5CB0D2-8468-4F88-B87E-C132988A94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26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4404851" y="2507775"/>
            <a:ext cx="5083278" cy="1130160"/>
          </a:xfrm>
        </p:spPr>
        <p:txBody>
          <a:bodyPr>
            <a:normAutofit/>
          </a:bodyPr>
          <a:lstStyle/>
          <a:p>
            <a:r>
              <a:rPr lang="zh-CN" altLang="en-US" sz="5400" b="1" dirty="0" smtClean="0">
                <a:solidFill>
                  <a:schemeClr val="accent1">
                    <a:lumMod val="75000"/>
                  </a:schemeClr>
                </a:solidFill>
              </a:rPr>
              <a:t>小天鹅</a:t>
            </a:r>
            <a:r>
              <a:rPr lang="zh-CN" altLang="en-US" sz="5400" b="1" dirty="0" smtClean="0">
                <a:solidFill>
                  <a:schemeClr val="accent6"/>
                </a:solidFill>
              </a:rPr>
              <a:t>云洗衣房</a:t>
            </a:r>
            <a:endParaRPr lang="zh-CN" altLang="en-US" sz="5400" b="1" dirty="0">
              <a:solidFill>
                <a:schemeClr val="accent6"/>
              </a:solidFill>
            </a:endParaRPr>
          </a:p>
        </p:txBody>
      </p:sp>
      <p:pic>
        <p:nvPicPr>
          <p:cNvPr id="5" name="Picture 2" descr="http://www.zhkjw.com.cn/upload/201412/11/201412111327457822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098" y="2045659"/>
            <a:ext cx="2115676" cy="169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14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4328" y="41626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业务创新说明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0806" y="1079702"/>
            <a:ext cx="4464498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用户痛点分析：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目前大学、工厂、酒店洗衣房使用的投币洗衣机或刷卡式洗衣机存在如下问题：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需用户随身携带硬币和银行卡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洗衣需求的用户不知道洗衣机的状态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，需要到洗衣房查看；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开始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洗衣的用户不知道何时洗衣机结束，也需要经常去查看洗衣机的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状态；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洗完之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后的衣服被随意堆放在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地上。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0806" y="4330172"/>
            <a:ext cx="454929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商户痛点分析：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商户需自行购买洗衣设备运营，前期运营资金占用投入压力大；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当运营范围较大的情况下，无法及时掌握各个设备的状态，不了解设备运营效率；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不可能掌握消费者信息，和消费者之间没有任何沟通机制，不可能进一步展开相关的有针对性的增值服务。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958349" y="1376516"/>
            <a:ext cx="0" cy="51234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右箭头 4"/>
          <p:cNvSpPr/>
          <p:nvPr/>
        </p:nvSpPr>
        <p:spPr>
          <a:xfrm>
            <a:off x="5968181" y="3028335"/>
            <a:ext cx="1061883" cy="150433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889410" y="611920"/>
            <a:ext cx="2290759" cy="1394890"/>
            <a:chOff x="2403139" y="2503510"/>
            <a:chExt cx="2290759" cy="1394890"/>
          </a:xfrm>
        </p:grpSpPr>
        <p:grpSp>
          <p:nvGrpSpPr>
            <p:cNvPr id="9" name="组合 8"/>
            <p:cNvGrpSpPr/>
            <p:nvPr/>
          </p:nvGrpSpPr>
          <p:grpSpPr>
            <a:xfrm>
              <a:off x="2403139" y="2503510"/>
              <a:ext cx="2290759" cy="1394890"/>
              <a:chOff x="5422050" y="2676526"/>
              <a:chExt cx="1990013" cy="1125369"/>
            </a:xfrm>
            <a:solidFill>
              <a:srgbClr val="09A8BE"/>
            </a:solidFill>
          </p:grpSpPr>
          <p:sp>
            <p:nvSpPr>
              <p:cNvPr id="11" name="椭圆 10"/>
              <p:cNvSpPr/>
              <p:nvPr/>
            </p:nvSpPr>
            <p:spPr>
              <a:xfrm>
                <a:off x="6013210" y="2676526"/>
                <a:ext cx="1178725" cy="11239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422050" y="3018842"/>
                <a:ext cx="884621" cy="7830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5747218" y="2780835"/>
                <a:ext cx="684991" cy="5620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6710363" y="3162882"/>
                <a:ext cx="701700" cy="6390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5784352" y="3354220"/>
                <a:ext cx="1337456" cy="447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2631689" y="3079548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小天鹅云洗衣房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7030064" y="2006810"/>
            <a:ext cx="4660491" cy="427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提供物联网洗衣机，可以遥控并感知洗衣机被使用过程中的各种状态；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构建云平台，对物联网洗衣机进行统一的设备管理；对消费行为进行统一的管理；自动便捷地线上支付；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云平台提供给加盟商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管理系统，使得加盟商可以方便地对自己经营范围内的洗衣机设备、自助洗衣服务进行透明化查询及管理；并可以进一步利用和消费者之间的交互功能，提供更多的增值服务；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消费者可以便捷的利用微信服务号、手机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APP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，随时查看空闲设备进行预约、线上支付、洗衣进度检查、获得洗衣结束提醒等等服务；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结合融资租赁的金融杠杆，帮助商户减轻创业初期的投入，降低经营上的资金压力和风险。</a:t>
            </a:r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31534" y="976166"/>
            <a:ext cx="2207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一项创新的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物联网应用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新业态！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5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6587613" y="797147"/>
            <a:ext cx="2418735" cy="1834705"/>
          </a:xfrm>
          <a:prstGeom prst="ellipse">
            <a:avLst/>
          </a:prstGeom>
          <a:noFill/>
          <a:ln w="57150">
            <a:solidFill>
              <a:srgbClr val="09A8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82196" y="50476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业务全景图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3" descr="D:\MyData\桌面\8487850521323005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786" y="4900577"/>
            <a:ext cx="1459199" cy="109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4547954" y="616729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远程洗衣房（校园、酒店）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://www.zhkjw.com.cn/upload/201412/11/201412111327457822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213" y="934614"/>
            <a:ext cx="2115676" cy="169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椭圆 6"/>
          <p:cNvSpPr/>
          <p:nvPr/>
        </p:nvSpPr>
        <p:spPr>
          <a:xfrm>
            <a:off x="5132439" y="3115451"/>
            <a:ext cx="1613895" cy="12093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加盟商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87734" y="4555116"/>
            <a:ext cx="956933" cy="1785323"/>
            <a:chOff x="9140796" y="4002124"/>
            <a:chExt cx="956933" cy="178532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0796" y="4002124"/>
              <a:ext cx="956933" cy="178532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0477" y="4441848"/>
              <a:ext cx="480275" cy="45293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244799" y="4957655"/>
              <a:ext cx="7489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</a:t>
              </a:r>
              <a:r>
                <a:rPr lang="zh-CN" altLang="en-US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信洗衣</a:t>
              </a:r>
              <a:r>
                <a:rPr lang="en-US" altLang="zh-CN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服务号</a:t>
              </a:r>
              <a:endPara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836031" y="632638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118706" y="1109815"/>
            <a:ext cx="1613895" cy="1209368"/>
          </a:xfrm>
          <a:prstGeom prst="ellipse">
            <a:avLst/>
          </a:prstGeom>
          <a:solidFill>
            <a:srgbClr val="0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融资租赁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合作商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9158808" y="3115451"/>
            <a:ext cx="1613895" cy="1209368"/>
          </a:xfrm>
          <a:prstGeom prst="ellipse">
            <a:avLst/>
          </a:prstGeom>
          <a:solidFill>
            <a:srgbClr val="0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设备维修及服务商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6" name="肘形连接符 15"/>
          <p:cNvCxnSpPr>
            <a:stCxn id="7" idx="6"/>
            <a:endCxn id="21" idx="4"/>
          </p:cNvCxnSpPr>
          <p:nvPr/>
        </p:nvCxnSpPr>
        <p:spPr>
          <a:xfrm flipV="1">
            <a:off x="6746334" y="2631852"/>
            <a:ext cx="1050647" cy="1088283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4" idx="6"/>
            <a:endCxn id="21" idx="2"/>
          </p:cNvCxnSpPr>
          <p:nvPr/>
        </p:nvCxnSpPr>
        <p:spPr>
          <a:xfrm>
            <a:off x="4732601" y="1714499"/>
            <a:ext cx="1855012" cy="1"/>
          </a:xfrm>
          <a:prstGeom prst="bentConnector3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7" idx="2"/>
            <a:endCxn id="14" idx="4"/>
          </p:cNvCxnSpPr>
          <p:nvPr/>
        </p:nvCxnSpPr>
        <p:spPr>
          <a:xfrm rot="10800000">
            <a:off x="3925655" y="2319183"/>
            <a:ext cx="1206785" cy="1400952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21" idx="6"/>
            <a:endCxn id="15" idx="0"/>
          </p:cNvCxnSpPr>
          <p:nvPr/>
        </p:nvCxnSpPr>
        <p:spPr>
          <a:xfrm>
            <a:off x="9006348" y="1714500"/>
            <a:ext cx="959408" cy="1400951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5" idx="4"/>
            <a:endCxn id="5" idx="3"/>
          </p:cNvCxnSpPr>
          <p:nvPr/>
        </p:nvCxnSpPr>
        <p:spPr>
          <a:xfrm rot="5400000">
            <a:off x="7755892" y="3237913"/>
            <a:ext cx="1122958" cy="3296771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接箭头连接符 1023"/>
          <p:cNvCxnSpPr>
            <a:stCxn id="7" idx="4"/>
            <a:endCxn id="5" idx="0"/>
          </p:cNvCxnSpPr>
          <p:nvPr/>
        </p:nvCxnSpPr>
        <p:spPr>
          <a:xfrm flipH="1">
            <a:off x="5939386" y="4324819"/>
            <a:ext cx="1" cy="57575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3978319" y="2485602"/>
            <a:ext cx="1101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向租赁商租赁物联网洗衣机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40051" y="2884618"/>
            <a:ext cx="1101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向小天鹅采购物联网洗衣机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828907" y="1032435"/>
            <a:ext cx="159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和小天鹅合作，批量采购物联网洗衣机，提供设备租赁服务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030598" y="1892331"/>
            <a:ext cx="1256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指定设备维修及服务商提供第三方上门服务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030598" y="4540820"/>
            <a:ext cx="940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安装调试</a:t>
            </a:r>
            <a:endParaRPr lang="en-US" altLang="zh-CN" sz="12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设备维修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03443" y="4295893"/>
            <a:ext cx="242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选址装修，部署自助式洗衣房（在校园、酒店）</a:t>
            </a:r>
            <a:endParaRPr lang="en-US" altLang="zh-CN" sz="12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进行业务管理和经营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31" name="直接箭头连接符 1030"/>
          <p:cNvCxnSpPr>
            <a:stCxn id="10" idx="3"/>
            <a:endCxn id="5" idx="1"/>
          </p:cNvCxnSpPr>
          <p:nvPr/>
        </p:nvCxnSpPr>
        <p:spPr>
          <a:xfrm flipV="1">
            <a:off x="2744667" y="5447777"/>
            <a:ext cx="2465119" cy="1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999200" y="4948365"/>
            <a:ext cx="181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在自助式洗衣房洗衣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12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（在校园、酒店）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09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://ico.ooopic.com/ajax/iconpng/?id=9194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899" y="4190626"/>
            <a:ext cx="2288232" cy="22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4659071" y="874491"/>
            <a:ext cx="2290759" cy="1394890"/>
            <a:chOff x="2403139" y="2503510"/>
            <a:chExt cx="2290759" cy="1394890"/>
          </a:xfrm>
        </p:grpSpPr>
        <p:grpSp>
          <p:nvGrpSpPr>
            <p:cNvPr id="6" name="组合 5"/>
            <p:cNvGrpSpPr/>
            <p:nvPr/>
          </p:nvGrpSpPr>
          <p:grpSpPr>
            <a:xfrm>
              <a:off x="2403139" y="2503510"/>
              <a:ext cx="2290759" cy="1394890"/>
              <a:chOff x="5422050" y="2676526"/>
              <a:chExt cx="1990013" cy="1125369"/>
            </a:xfrm>
            <a:solidFill>
              <a:srgbClr val="09A8BE"/>
            </a:solidFill>
          </p:grpSpPr>
          <p:sp>
            <p:nvSpPr>
              <p:cNvPr id="9" name="椭圆 8"/>
              <p:cNvSpPr/>
              <p:nvPr/>
            </p:nvSpPr>
            <p:spPr>
              <a:xfrm>
                <a:off x="6013210" y="2676526"/>
                <a:ext cx="1178725" cy="11239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422050" y="3018842"/>
                <a:ext cx="884621" cy="7830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5747218" y="2780835"/>
                <a:ext cx="684991" cy="5620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6710363" y="3162882"/>
                <a:ext cx="701700" cy="6390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5784352" y="3354220"/>
                <a:ext cx="1337456" cy="447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2631689" y="3079548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小天鹅云洗衣房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SaaS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8822329" y="2989401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加盟商（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SaaS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用户）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2196" y="50476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系统全景图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60885" y="3755014"/>
            <a:ext cx="956933" cy="1785323"/>
            <a:chOff x="9140796" y="4002124"/>
            <a:chExt cx="956933" cy="1785323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0796" y="4002124"/>
              <a:ext cx="956933" cy="178532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0477" y="4441848"/>
              <a:ext cx="480275" cy="45293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9244799" y="4957655"/>
              <a:ext cx="7489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</a:t>
              </a:r>
              <a:r>
                <a:rPr lang="zh-CN" alt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信洗衣</a:t>
              </a:r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服务号</a:t>
              </a: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572" y="1675901"/>
            <a:ext cx="1422585" cy="121078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859" y="4419554"/>
            <a:ext cx="1422585" cy="121078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082354" y="5813943"/>
            <a:ext cx="1800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小天鹅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云洗衣房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肘形连接符 25"/>
          <p:cNvCxnSpPr>
            <a:stCxn id="10" idx="2"/>
            <a:endCxn id="23" idx="0"/>
          </p:cNvCxnSpPr>
          <p:nvPr/>
        </p:nvCxnSpPr>
        <p:spPr>
          <a:xfrm rot="10800000" flipV="1">
            <a:off x="1983153" y="1784086"/>
            <a:ext cx="2675919" cy="2635468"/>
          </a:xfrm>
          <a:prstGeom prst="bentConnector2">
            <a:avLst/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://pic.baike.soso.com/p/20130513/bki-20130513150144-196987281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034" y="5458818"/>
            <a:ext cx="453148" cy="45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/>
          <p:cNvSpPr txBox="1"/>
          <p:nvPr/>
        </p:nvSpPr>
        <p:spPr>
          <a:xfrm>
            <a:off x="5109182" y="55262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肘形连接符 27"/>
          <p:cNvCxnSpPr>
            <a:stCxn id="21" idx="1"/>
            <a:endCxn id="12" idx="6"/>
          </p:cNvCxnSpPr>
          <p:nvPr/>
        </p:nvCxnSpPr>
        <p:spPr>
          <a:xfrm rot="10800000">
            <a:off x="6949830" y="1873354"/>
            <a:ext cx="2322742" cy="407940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670009" y="3896969"/>
            <a:ext cx="798956" cy="434959"/>
            <a:chOff x="2251916" y="3750867"/>
            <a:chExt cx="798956" cy="434959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9946" y="3750867"/>
              <a:ext cx="430926" cy="430926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/>
          </p:nvSpPr>
          <p:spPr>
            <a:xfrm>
              <a:off x="2251916" y="3924216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WIFI</a:t>
              </a: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1" name="肘形连接符 40"/>
          <p:cNvCxnSpPr>
            <a:stCxn id="15" idx="2"/>
            <a:endCxn id="14" idx="0"/>
          </p:cNvCxnSpPr>
          <p:nvPr/>
        </p:nvCxnSpPr>
        <p:spPr>
          <a:xfrm rot="5400000">
            <a:off x="9347074" y="3284232"/>
            <a:ext cx="562291" cy="711293"/>
          </a:xfrm>
          <a:prstGeom prst="bentConnector3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3" idx="2"/>
            <a:endCxn id="18" idx="0"/>
          </p:cNvCxnSpPr>
          <p:nvPr/>
        </p:nvCxnSpPr>
        <p:spPr>
          <a:xfrm rot="5400000">
            <a:off x="4949820" y="2858914"/>
            <a:ext cx="1485633" cy="306567"/>
          </a:xfrm>
          <a:prstGeom prst="bentConnector3">
            <a:avLst/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7649020" y="3921024"/>
            <a:ext cx="3247103" cy="2733341"/>
            <a:chOff x="7934155" y="3871863"/>
            <a:chExt cx="3247103" cy="2733341"/>
          </a:xfrm>
        </p:grpSpPr>
        <p:sp>
          <p:nvSpPr>
            <p:cNvPr id="14" name="矩形 13"/>
            <p:cNvSpPr/>
            <p:nvPr/>
          </p:nvSpPr>
          <p:spPr>
            <a:xfrm>
              <a:off x="7934155" y="3871863"/>
              <a:ext cx="3247103" cy="2305161"/>
            </a:xfrm>
            <a:prstGeom prst="rect">
              <a:avLst/>
            </a:prstGeom>
            <a:noFill/>
            <a:ln w="3175">
              <a:solidFill>
                <a:srgbClr val="09A8B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080378" y="6235872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远程洗衣房（校园、酒店）</a:t>
              </a: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0" name="肘形连接符 49"/>
          <p:cNvCxnSpPr>
            <a:stCxn id="38" idx="0"/>
            <a:endCxn id="12" idx="4"/>
          </p:cNvCxnSpPr>
          <p:nvPr/>
        </p:nvCxnSpPr>
        <p:spPr>
          <a:xfrm rot="16200000" flipV="1">
            <a:off x="6329424" y="2485915"/>
            <a:ext cx="1800937" cy="136786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18" idx="3"/>
            <a:endCxn id="1028" idx="1"/>
          </p:cNvCxnSpPr>
          <p:nvPr/>
        </p:nvCxnSpPr>
        <p:spPr>
          <a:xfrm>
            <a:off x="6017818" y="4647676"/>
            <a:ext cx="2204216" cy="1037716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159794" y="4770896"/>
            <a:ext cx="1017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通过二维码扫描或机位号等方式，启动洗衣、完成支付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014805" y="3424435"/>
            <a:ext cx="1246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管理、部署远程自助式洗衣房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642234" y="2398675"/>
            <a:ext cx="14952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物联网洗衣机和云平台的设备管理进行状态交互、控制等</a:t>
            </a:r>
            <a:r>
              <a:rPr lang="zh-CN" altLang="en-US" sz="1100" dirty="0" smtClean="0">
                <a:solidFill>
                  <a:schemeClr val="accent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（已有基础）</a:t>
            </a:r>
            <a:endParaRPr lang="zh-CN" altLang="en-US" sz="1100" dirty="0">
              <a:solidFill>
                <a:schemeClr val="accent6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143477" y="5165769"/>
            <a:ext cx="644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物联网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719898" y="4803655"/>
            <a:ext cx="8966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二维码或其他标识符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605361" y="3967445"/>
            <a:ext cx="144503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微信洗衣服务号：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注册登录；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洗衣机状态查看；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远程预约锁定设备（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分钟）；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洗衣房现场完成支付，启动洗衣；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洗衣进度查看；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洗衣结束提示取衣。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140665" y="2010821"/>
            <a:ext cx="2618635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小天鹅后台统一业务管理：</a:t>
            </a:r>
            <a:endParaRPr lang="en-US" altLang="zh-CN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加盟</a:t>
            </a: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商开户、信息维护；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设备分配（分租赁模式和采购模式）；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消费者信息管理及消费分析报告；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加盟</a:t>
            </a: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商结算管理及分析报告；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租赁模式业务管理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589400" y="4720310"/>
            <a:ext cx="786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</a:t>
            </a:r>
            <a:r>
              <a:rPr lang="zh-CN" altLang="en-US" sz="1100" dirty="0" smtClean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访问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590663" y="2006808"/>
            <a:ext cx="786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</a:t>
            </a:r>
            <a:r>
              <a:rPr lang="zh-CN" altLang="en-US" sz="1100" dirty="0" smtClean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访问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354544" y="694561"/>
            <a:ext cx="4070539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加盟商</a:t>
            </a:r>
            <a:r>
              <a:rPr lang="en-US" altLang="zh-CN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系统：</a:t>
            </a:r>
            <a:endParaRPr lang="en-US" altLang="zh-CN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加盟商登录、信息维护；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管理设备（租赁</a:t>
            </a:r>
            <a:r>
              <a:rPr lang="en-US" altLang="zh-CN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采购设备登记；设备二维码生成及维护）；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消费管理及报告；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租赁结算（租赁模式下使用）；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收益结算及报告</a:t>
            </a: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173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264687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技术方案要点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8" descr="http://ico.ooopic.com/ajax/iconpng/?id=91947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1393" r="11306" b="12351"/>
          <a:stretch/>
        </p:blipFill>
        <p:spPr bwMode="auto">
          <a:xfrm>
            <a:off x="284844" y="3549186"/>
            <a:ext cx="1744681" cy="174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4"/>
          <p:cNvGrpSpPr/>
          <p:nvPr/>
        </p:nvGrpSpPr>
        <p:grpSpPr>
          <a:xfrm>
            <a:off x="1620702" y="1717273"/>
            <a:ext cx="2290759" cy="1394888"/>
            <a:chOff x="2403139" y="2503510"/>
            <a:chExt cx="2290759" cy="1394888"/>
          </a:xfrm>
          <a:solidFill>
            <a:srgbClr val="3366FF"/>
          </a:solidFill>
        </p:grpSpPr>
        <p:grpSp>
          <p:nvGrpSpPr>
            <p:cNvPr id="5" name="组合 5"/>
            <p:cNvGrpSpPr/>
            <p:nvPr/>
          </p:nvGrpSpPr>
          <p:grpSpPr>
            <a:xfrm>
              <a:off x="2403139" y="2503510"/>
              <a:ext cx="2290759" cy="1394888"/>
              <a:chOff x="5422050" y="2676527"/>
              <a:chExt cx="1990013" cy="1125368"/>
            </a:xfrm>
            <a:grpFill/>
          </p:grpSpPr>
          <p:sp>
            <p:nvSpPr>
              <p:cNvPr id="7" name="椭圆 6"/>
              <p:cNvSpPr/>
              <p:nvPr/>
            </p:nvSpPr>
            <p:spPr>
              <a:xfrm>
                <a:off x="6013210" y="2676527"/>
                <a:ext cx="1178725" cy="11239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5422050" y="3018842"/>
                <a:ext cx="884621" cy="7830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747218" y="2780835"/>
                <a:ext cx="684991" cy="5620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6710363" y="3162882"/>
                <a:ext cx="701700" cy="6390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5784352" y="3354220"/>
                <a:ext cx="1337456" cy="447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2950663" y="3079548"/>
              <a:ext cx="1162548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研究院</a:t>
              </a:r>
              <a:endParaRPr lang="en-US" altLang="zh-CN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M-Cloud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813" y="3727238"/>
            <a:ext cx="735194" cy="1136570"/>
          </a:xfrm>
          <a:prstGeom prst="rect">
            <a:avLst/>
          </a:prstGeom>
        </p:spPr>
      </p:pic>
      <p:cxnSp>
        <p:nvCxnSpPr>
          <p:cNvPr id="16" name="肘形连接符 15"/>
          <p:cNvCxnSpPr>
            <a:stCxn id="8" idx="2"/>
            <a:endCxn id="3" idx="0"/>
          </p:cNvCxnSpPr>
          <p:nvPr/>
        </p:nvCxnSpPr>
        <p:spPr>
          <a:xfrm rot="10800000" flipV="1">
            <a:off x="1157186" y="2626866"/>
            <a:ext cx="463517" cy="922320"/>
          </a:xfrm>
          <a:prstGeom prst="bentConnector2">
            <a:avLst/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11" idx="2"/>
            <a:endCxn id="12" idx="1"/>
          </p:cNvCxnSpPr>
          <p:nvPr/>
        </p:nvCxnSpPr>
        <p:spPr>
          <a:xfrm rot="16200000" flipH="1">
            <a:off x="2593500" y="3326210"/>
            <a:ext cx="1183362" cy="755263"/>
          </a:xfrm>
          <a:prstGeom prst="bentConnector2">
            <a:avLst/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216741" y="49209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应用服务器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577" y="3725326"/>
            <a:ext cx="735194" cy="1136570"/>
          </a:xfrm>
          <a:prstGeom prst="rect">
            <a:avLst/>
          </a:prstGeom>
        </p:spPr>
      </p:pic>
      <p:grpSp>
        <p:nvGrpSpPr>
          <p:cNvPr id="27" name="组合 4"/>
          <p:cNvGrpSpPr/>
          <p:nvPr/>
        </p:nvGrpSpPr>
        <p:grpSpPr>
          <a:xfrm>
            <a:off x="7804245" y="1717274"/>
            <a:ext cx="2290759" cy="1394890"/>
            <a:chOff x="2403139" y="2503510"/>
            <a:chExt cx="2290759" cy="1394890"/>
          </a:xfrm>
        </p:grpSpPr>
        <p:grpSp>
          <p:nvGrpSpPr>
            <p:cNvPr id="28" name="组合 5"/>
            <p:cNvGrpSpPr/>
            <p:nvPr/>
          </p:nvGrpSpPr>
          <p:grpSpPr>
            <a:xfrm>
              <a:off x="2403139" y="2503510"/>
              <a:ext cx="2290759" cy="1394890"/>
              <a:chOff x="5422050" y="2676526"/>
              <a:chExt cx="1990013" cy="1125369"/>
            </a:xfrm>
            <a:solidFill>
              <a:srgbClr val="09A8BE"/>
            </a:solidFill>
          </p:grpSpPr>
          <p:sp>
            <p:nvSpPr>
              <p:cNvPr id="30" name="椭圆 29"/>
              <p:cNvSpPr/>
              <p:nvPr/>
            </p:nvSpPr>
            <p:spPr>
              <a:xfrm>
                <a:off x="6013210" y="2676526"/>
                <a:ext cx="1178725" cy="11239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5422050" y="3018842"/>
                <a:ext cx="884621" cy="7830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747218" y="2780835"/>
                <a:ext cx="684991" cy="5620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6710363" y="3162882"/>
                <a:ext cx="701700" cy="6390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5784352" y="3354220"/>
                <a:ext cx="1337456" cy="447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2631689" y="3079548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小天鹅云洗衣房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SaaS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6" name="直线箭头连接符 35"/>
          <p:cNvCxnSpPr>
            <a:stCxn id="12" idx="3"/>
            <a:endCxn id="26" idx="1"/>
          </p:cNvCxnSpPr>
          <p:nvPr/>
        </p:nvCxnSpPr>
        <p:spPr>
          <a:xfrm flipV="1">
            <a:off x="4298007" y="4293611"/>
            <a:ext cx="2277570" cy="1912"/>
          </a:xfrm>
          <a:prstGeom prst="straightConnector1">
            <a:avLst/>
          </a:prstGeom>
          <a:ln w="76200" cmpd="sng">
            <a:solidFill>
              <a:srgbClr val="3366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84846" y="5765806"/>
            <a:ext cx="37979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是完全由现有系统所形成的可信区域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仅对外提供设备控制、状态上报功能，不存在洗衣房用户、现金流等概念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4293" y="1400682"/>
            <a:ext cx="4462586" cy="5294103"/>
          </a:xfrm>
          <a:prstGeom prst="rect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252851" y="154313"/>
            <a:ext cx="5447678" cy="6514820"/>
          </a:xfrm>
          <a:prstGeom prst="rect">
            <a:avLst/>
          </a:prstGeom>
          <a:ln>
            <a:solidFill>
              <a:srgbClr val="66006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295361" y="495459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订单管理服务器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肘形连接符 48"/>
          <p:cNvCxnSpPr>
            <a:stCxn id="31" idx="2"/>
            <a:endCxn id="26" idx="3"/>
          </p:cNvCxnSpPr>
          <p:nvPr/>
        </p:nvCxnSpPr>
        <p:spPr>
          <a:xfrm rot="10800000" flipV="1">
            <a:off x="7310771" y="2626869"/>
            <a:ext cx="493474" cy="166674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标注 51"/>
          <p:cNvSpPr/>
          <p:nvPr/>
        </p:nvSpPr>
        <p:spPr>
          <a:xfrm>
            <a:off x="4059052" y="2682661"/>
            <a:ext cx="2065132" cy="1536077"/>
          </a:xfrm>
          <a:custGeom>
            <a:avLst/>
            <a:gdLst>
              <a:gd name="connsiteX0" fmla="*/ 0 w 2065132"/>
              <a:gd name="connsiteY0" fmla="*/ 0 h 839974"/>
              <a:gd name="connsiteX1" fmla="*/ 344189 w 2065132"/>
              <a:gd name="connsiteY1" fmla="*/ 0 h 839974"/>
              <a:gd name="connsiteX2" fmla="*/ 344189 w 2065132"/>
              <a:gd name="connsiteY2" fmla="*/ 0 h 839974"/>
              <a:gd name="connsiteX3" fmla="*/ 860472 w 2065132"/>
              <a:gd name="connsiteY3" fmla="*/ 0 h 839974"/>
              <a:gd name="connsiteX4" fmla="*/ 2065132 w 2065132"/>
              <a:gd name="connsiteY4" fmla="*/ 0 h 839974"/>
              <a:gd name="connsiteX5" fmla="*/ 2065132 w 2065132"/>
              <a:gd name="connsiteY5" fmla="*/ 489985 h 839974"/>
              <a:gd name="connsiteX6" fmla="*/ 2065132 w 2065132"/>
              <a:gd name="connsiteY6" fmla="*/ 489985 h 839974"/>
              <a:gd name="connsiteX7" fmla="*/ 2065132 w 2065132"/>
              <a:gd name="connsiteY7" fmla="*/ 699978 h 839974"/>
              <a:gd name="connsiteX8" fmla="*/ 2065132 w 2065132"/>
              <a:gd name="connsiteY8" fmla="*/ 839974 h 839974"/>
              <a:gd name="connsiteX9" fmla="*/ 860472 w 2065132"/>
              <a:gd name="connsiteY9" fmla="*/ 839974 h 839974"/>
              <a:gd name="connsiteX10" fmla="*/ 771781 w 2065132"/>
              <a:gd name="connsiteY10" fmla="*/ 1536077 h 839974"/>
              <a:gd name="connsiteX11" fmla="*/ 344189 w 2065132"/>
              <a:gd name="connsiteY11" fmla="*/ 839974 h 839974"/>
              <a:gd name="connsiteX12" fmla="*/ 0 w 2065132"/>
              <a:gd name="connsiteY12" fmla="*/ 839974 h 839974"/>
              <a:gd name="connsiteX13" fmla="*/ 0 w 2065132"/>
              <a:gd name="connsiteY13" fmla="*/ 699978 h 839974"/>
              <a:gd name="connsiteX14" fmla="*/ 0 w 2065132"/>
              <a:gd name="connsiteY14" fmla="*/ 489985 h 839974"/>
              <a:gd name="connsiteX15" fmla="*/ 0 w 2065132"/>
              <a:gd name="connsiteY15" fmla="*/ 489985 h 839974"/>
              <a:gd name="connsiteX16" fmla="*/ 0 w 2065132"/>
              <a:gd name="connsiteY16" fmla="*/ 0 h 839974"/>
              <a:gd name="connsiteX0" fmla="*/ 0 w 2065132"/>
              <a:gd name="connsiteY0" fmla="*/ 0 h 1536077"/>
              <a:gd name="connsiteX1" fmla="*/ 344189 w 2065132"/>
              <a:gd name="connsiteY1" fmla="*/ 0 h 1536077"/>
              <a:gd name="connsiteX2" fmla="*/ 344189 w 2065132"/>
              <a:gd name="connsiteY2" fmla="*/ 0 h 1536077"/>
              <a:gd name="connsiteX3" fmla="*/ 860472 w 2065132"/>
              <a:gd name="connsiteY3" fmla="*/ 0 h 1536077"/>
              <a:gd name="connsiteX4" fmla="*/ 2065132 w 2065132"/>
              <a:gd name="connsiteY4" fmla="*/ 0 h 1536077"/>
              <a:gd name="connsiteX5" fmla="*/ 2065132 w 2065132"/>
              <a:gd name="connsiteY5" fmla="*/ 489985 h 1536077"/>
              <a:gd name="connsiteX6" fmla="*/ 2065132 w 2065132"/>
              <a:gd name="connsiteY6" fmla="*/ 489985 h 1536077"/>
              <a:gd name="connsiteX7" fmla="*/ 2065132 w 2065132"/>
              <a:gd name="connsiteY7" fmla="*/ 699978 h 1536077"/>
              <a:gd name="connsiteX8" fmla="*/ 2065132 w 2065132"/>
              <a:gd name="connsiteY8" fmla="*/ 839974 h 1536077"/>
              <a:gd name="connsiteX9" fmla="*/ 860472 w 2065132"/>
              <a:gd name="connsiteY9" fmla="*/ 839974 h 1536077"/>
              <a:gd name="connsiteX10" fmla="*/ 771781 w 2065132"/>
              <a:gd name="connsiteY10" fmla="*/ 1536077 h 1536077"/>
              <a:gd name="connsiteX11" fmla="*/ 605298 w 2065132"/>
              <a:gd name="connsiteY11" fmla="*/ 839974 h 1536077"/>
              <a:gd name="connsiteX12" fmla="*/ 0 w 2065132"/>
              <a:gd name="connsiteY12" fmla="*/ 839974 h 1536077"/>
              <a:gd name="connsiteX13" fmla="*/ 0 w 2065132"/>
              <a:gd name="connsiteY13" fmla="*/ 699978 h 1536077"/>
              <a:gd name="connsiteX14" fmla="*/ 0 w 2065132"/>
              <a:gd name="connsiteY14" fmla="*/ 489985 h 1536077"/>
              <a:gd name="connsiteX15" fmla="*/ 0 w 2065132"/>
              <a:gd name="connsiteY15" fmla="*/ 489985 h 1536077"/>
              <a:gd name="connsiteX16" fmla="*/ 0 w 2065132"/>
              <a:gd name="connsiteY16" fmla="*/ 0 h 1536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65132" h="1536077">
                <a:moveTo>
                  <a:pt x="0" y="0"/>
                </a:moveTo>
                <a:lnTo>
                  <a:pt x="344189" y="0"/>
                </a:lnTo>
                <a:lnTo>
                  <a:pt x="344189" y="0"/>
                </a:lnTo>
                <a:lnTo>
                  <a:pt x="860472" y="0"/>
                </a:lnTo>
                <a:lnTo>
                  <a:pt x="2065132" y="0"/>
                </a:lnTo>
                <a:lnTo>
                  <a:pt x="2065132" y="489985"/>
                </a:lnTo>
                <a:lnTo>
                  <a:pt x="2065132" y="489985"/>
                </a:lnTo>
                <a:lnTo>
                  <a:pt x="2065132" y="699978"/>
                </a:lnTo>
                <a:lnTo>
                  <a:pt x="2065132" y="839974"/>
                </a:lnTo>
                <a:lnTo>
                  <a:pt x="860472" y="839974"/>
                </a:lnTo>
                <a:lnTo>
                  <a:pt x="771781" y="1536077"/>
                </a:lnTo>
                <a:lnTo>
                  <a:pt x="605298" y="839974"/>
                </a:lnTo>
                <a:lnTo>
                  <a:pt x="0" y="839974"/>
                </a:lnTo>
                <a:lnTo>
                  <a:pt x="0" y="699978"/>
                </a:lnTo>
                <a:lnTo>
                  <a:pt x="0" y="489985"/>
                </a:lnTo>
                <a:lnTo>
                  <a:pt x="0" y="48998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洗衣机空闲、运转状态</a:t>
            </a:r>
            <a:r>
              <a:rPr lang="zh-CN" altLang="en-US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的上报</a:t>
            </a:r>
            <a:r>
              <a:rPr lang="zh-CN" altLang="zh-CN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zh-CN" altLang="en-US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洗衣机运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行</a:t>
            </a:r>
            <a:r>
              <a:rPr lang="zh-CN" altLang="en-US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控制</a:t>
            </a:r>
            <a:endParaRPr lang="en-US" altLang="zh-CN" sz="11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内网连接，可信接口</a:t>
            </a:r>
            <a:endParaRPr lang="zh-CN" altLang="en-US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矩形标注 53"/>
          <p:cNvSpPr/>
          <p:nvPr/>
        </p:nvSpPr>
        <p:spPr>
          <a:xfrm>
            <a:off x="3999711" y="201793"/>
            <a:ext cx="3975974" cy="2109552"/>
          </a:xfrm>
          <a:prstGeom prst="wedgeRectCallout">
            <a:avLst>
              <a:gd name="adj1" fmla="val 23943"/>
              <a:gd name="adj2" fmla="val 117081"/>
            </a:avLst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洗衣机空闲时自动形成库存</a:t>
            </a:r>
            <a:endParaRPr lang="en-US" altLang="zh-CN" sz="1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用户预定时生成订单，等待支付</a:t>
            </a:r>
            <a:endParaRPr lang="en-US" altLang="zh-CN" sz="1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用户支付时提供交付凭证（</a:t>
            </a:r>
            <a:r>
              <a:rPr lang="en-US" altLang="zh-CN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Token</a:t>
            </a:r>
            <a:r>
              <a:rPr lang="zh-CN" altLang="en-US" sz="1100" dirty="0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），该凭证与用户</a:t>
            </a: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zh-CN" altLang="en-US" sz="1100" dirty="0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洗衣机信息关联（交易信息）</a:t>
            </a:r>
            <a:endParaRPr lang="en-US" altLang="zh-CN" sz="1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用户使用</a:t>
            </a:r>
            <a:r>
              <a:rPr lang="en-US" altLang="zh-CN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Token</a:t>
            </a: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控制洗衣机，服务器验证后通过可信接口发送至应用服务器启动交付流程</a:t>
            </a:r>
            <a:endParaRPr lang="en-US" altLang="zh-CN" sz="1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洗衣机的各运转状态实时上报</a:t>
            </a:r>
            <a:r>
              <a:rPr lang="zh-CN" altLang="en-US" sz="1100" dirty="0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（可</a:t>
            </a:r>
            <a:r>
              <a:rPr lang="zh-CN" altLang="en-US" sz="11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类比</a:t>
            </a:r>
            <a:r>
              <a:rPr lang="zh-CN" altLang="en-US" sz="1100" dirty="0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电商产品</a:t>
            </a: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交付</a:t>
            </a:r>
            <a:r>
              <a:rPr lang="zh-CN" altLang="en-US" sz="1100" dirty="0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中的配送状态查询模块</a:t>
            </a:r>
            <a:r>
              <a:rPr lang="zh-CN" altLang="en-US" sz="1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endParaRPr lang="en-US" altLang="zh-CN" sz="1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831372" y="5704542"/>
            <a:ext cx="379794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对用户及商家暴露接口的区域</a:t>
            </a:r>
            <a:endParaRPr lang="en-US" altLang="zh-CN" sz="1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存在洗衣房商家、用户、现金流等概念，类似现有电商系统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24" y="3545360"/>
            <a:ext cx="735194" cy="1136570"/>
          </a:xfrm>
          <a:prstGeom prst="rect">
            <a:avLst/>
          </a:prstGeom>
        </p:spPr>
      </p:pic>
      <p:cxnSp>
        <p:nvCxnSpPr>
          <p:cNvPr id="57" name="肘形连接符 56"/>
          <p:cNvCxnSpPr>
            <a:stCxn id="34" idx="2"/>
            <a:endCxn id="56" idx="0"/>
          </p:cNvCxnSpPr>
          <p:nvPr/>
        </p:nvCxnSpPr>
        <p:spPr>
          <a:xfrm rot="5400000">
            <a:off x="8592259" y="3146526"/>
            <a:ext cx="433196" cy="36447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8275523" y="46440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商家管理服务器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54" y="2593832"/>
            <a:ext cx="735194" cy="1136570"/>
          </a:xfrm>
          <a:prstGeom prst="rect">
            <a:avLst/>
          </a:prstGeom>
        </p:spPr>
      </p:pic>
      <p:cxnSp>
        <p:nvCxnSpPr>
          <p:cNvPr id="63" name="肘形连接符 62"/>
          <p:cNvCxnSpPr>
            <a:stCxn id="62" idx="1"/>
            <a:endCxn id="33" idx="6"/>
          </p:cNvCxnSpPr>
          <p:nvPr/>
        </p:nvCxnSpPr>
        <p:spPr>
          <a:xfrm rot="10800000">
            <a:off x="10095004" y="2716137"/>
            <a:ext cx="571450" cy="445980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8394056" y="4966682"/>
            <a:ext cx="2738674" cy="332142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 smtClean="0"/>
              <a:t>借用现有电商的商家入驻、结算系统</a:t>
            </a:r>
            <a:endParaRPr lang="zh-CN" altLang="en-US" dirty="0"/>
          </a:p>
        </p:txBody>
      </p:sp>
      <p:sp>
        <p:nvSpPr>
          <p:cNvPr id="68" name="文本框 67"/>
          <p:cNvSpPr txBox="1"/>
          <p:nvPr/>
        </p:nvSpPr>
        <p:spPr>
          <a:xfrm>
            <a:off x="9721599" y="37518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用户管理服务器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732236" y="4074505"/>
            <a:ext cx="2086979" cy="332142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 smtClean="0"/>
              <a:t>借用现有电商的用户管理系统</a:t>
            </a:r>
            <a:endParaRPr lang="zh-CN" altLang="en-US" dirty="0"/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128" y="611511"/>
            <a:ext cx="735194" cy="1136570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8492595" y="51132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肘形连接符 71"/>
          <p:cNvCxnSpPr>
            <a:stCxn id="70" idx="1"/>
            <a:endCxn id="30" idx="1"/>
          </p:cNvCxnSpPr>
          <p:nvPr/>
        </p:nvCxnSpPr>
        <p:spPr>
          <a:xfrm rot="10800000" flipV="1">
            <a:off x="8683454" y="1179795"/>
            <a:ext cx="1199674" cy="741497"/>
          </a:xfrm>
          <a:prstGeom prst="bentConnector2">
            <a:avLst/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8543483" y="214782"/>
            <a:ext cx="2648589" cy="332142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 smtClean="0"/>
              <a:t>借用现有电商（微店）的用户前端系统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716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系统实现阶段划分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67650" y="1090488"/>
            <a:ext cx="2252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期（</a:t>
            </a:r>
            <a:r>
              <a:rPr lang="en-US" altLang="zh-CN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181944" y="108953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第二期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040082" y="108953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第三期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23057" y="1778557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NOW</a:t>
            </a:r>
            <a:endParaRPr lang="zh-CN" altLang="en-US" sz="140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022556" y="1630416"/>
            <a:ext cx="1012722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1344266" y="1506578"/>
            <a:ext cx="235975" cy="2418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68200" y="1506578"/>
            <a:ext cx="235975" cy="2418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063113" y="1506578"/>
            <a:ext cx="235975" cy="2418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808031" y="1506577"/>
            <a:ext cx="235975" cy="2418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511964" y="1747780"/>
            <a:ext cx="125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2015 Dec 31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42663" y="1717729"/>
            <a:ext cx="1253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2016 Apr 30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21119" y="1712224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2016 Aug 30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85014" y="2097922"/>
            <a:ext cx="2618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提供运维管理端基本功能；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提供商家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业务管理系统基本功能；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提供微信服务号供消费者使用。支持微信支付。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简单的统计和报表。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04175" y="2482835"/>
            <a:ext cx="261813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运维管理端支持自动企业金流结算；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商家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端提供业务管理系统基本功能；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完善微信服务号功能，支持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LBS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搜索、投诉和求助。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更多的统计和报表。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09619" y="2904745"/>
            <a:ext cx="2618134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支持线上申请加盟、开户；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支持租赁合作商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端管理；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商家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SaaS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端提供服务商城，向其辖区内用户提供电商等增值服务；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提供商家及消费者手机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APP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Android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iOS</a:t>
            </a: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  <a:endParaRPr lang="en-US" altLang="zh-CN" sz="14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支持支付宝支付、银联支付。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926018" y="5536234"/>
            <a:ext cx="141275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进一步提供大数据等更多功能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1" name="直接连接符 20"/>
          <p:cNvCxnSpPr>
            <a:stCxn id="10" idx="4"/>
          </p:cNvCxnSpPr>
          <p:nvPr/>
        </p:nvCxnSpPr>
        <p:spPr>
          <a:xfrm flipH="1">
            <a:off x="4186187" y="1748403"/>
            <a:ext cx="1" cy="46801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1462252" y="1747780"/>
            <a:ext cx="1" cy="46801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9933302" y="1747779"/>
            <a:ext cx="1" cy="46801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7174364" y="1747779"/>
            <a:ext cx="1" cy="46801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80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6730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第一期</a:t>
            </a:r>
            <a:r>
              <a:rPr lang="en-US" altLang="zh-CN" sz="3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阶段：业务逻辑功能描述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28" y="1342057"/>
            <a:ext cx="652752" cy="555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50142" y="14351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小天鹅管理端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2195" y="2006810"/>
            <a:ext cx="533179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线下和加盟商签约后，从管理端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入口访问云平台，完成商户信息注册、开户。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设备分配登记等功能。其中根据签约情况，设备分为租赁使用和采购使用两种情况。可以对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租赁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设备在商户之间重新分配。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洗衣价格审核。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统一线上消费收费及和加盟商之间的结算。第一期</a:t>
            </a:r>
            <a:r>
              <a:rPr lang="en-US" altLang="zh-CN" sz="1400" dirty="0" err="1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PoC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阶段支持微信收费。第一期和加盟商之间的分账结算线上提供分账报表，金流暂时走线下执行。（以后加入结算清分平台，支持按合约自动向商家线上支付）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分析报告：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微软雅黑 Light" panose="020B0502040204020203" pitchFamily="34" charset="-122"/>
              <a:buChar char="−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消费记录综合报告、按商家查看、按时段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周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月统计分析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微软雅黑 Light" panose="020B0502040204020203" pitchFamily="34" charset="-122"/>
              <a:buChar char="−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商家经营分析报告，收入分析；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微软雅黑 Light" panose="020B0502040204020203" pitchFamily="34" charset="-122"/>
              <a:buChar char="−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设备状态分析：使用场所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忙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闲时段分析等。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621" y="1342057"/>
            <a:ext cx="652752" cy="55556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95535" y="1435175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加盟商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SaaS</a:t>
            </a: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管理系统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27588" y="2006810"/>
            <a:ext cx="533179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登录、信息维护。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洗衣房管理：场所登记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洗衣机管理：设备分配到洗衣房、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二维码生成及打印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、设备回收或重新分配、设备维修状态和记录。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定价管理：针对每台洗衣设备，可以进行一次洗衣的定价；可以按洗衣房统一定价。定价后，需平台端统一审核后才投入使用。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用户管理：第一期支持商家可以查看到用户信息和消费记录信息。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账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务管理：消费情况、结算分账情况（第一期需对账，管理端记录结算收益后，进行对账确认）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62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6730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第一期</a:t>
            </a:r>
            <a:r>
              <a:rPr lang="en-US" altLang="zh-CN" sz="3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阶段：业务逻辑功能描述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558" y="1353630"/>
            <a:ext cx="741317" cy="699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6875" y="151852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小天鹅云洗衣房微信服务号系统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1663" y="2052750"/>
            <a:ext cx="4835243" cy="4598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供消费者使用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消费者微信号登录系统、完善注册、个人信息维护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消费者查看“小天鹅云洗衣房”，进入查看所有洗衣机空闲状态；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预约式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消费者预约空闲洗衣机，并锁定（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分钟）；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在锁定期内到达洗衣房，通过机位号等信息找到其预约的洗衣机，利用微支付完成支付，启动洗衣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非预约式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到洗衣房，扫描洗衣设备上标贴的二维码或其他标识符，利用微支付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完成支付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，启动洗衣；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随时随地检查洗衣进程；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洗衣结束后接收洗衣完成提醒，并在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分钟之内收衣；（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分钟后洗衣机自动进入空闲状态）</a:t>
            </a:r>
            <a:endParaRPr lang="en-US" altLang="zh-CN" sz="1400" dirty="0" smtClean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Picture 8" descr="http://ico.ooopic.com/ajax/iconpng/?id=9194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655" y="3477943"/>
            <a:ext cx="2288232" cy="22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5778641" y="3042331"/>
            <a:ext cx="956933" cy="1785323"/>
            <a:chOff x="9140796" y="4002124"/>
            <a:chExt cx="956933" cy="178532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0796" y="4002124"/>
              <a:ext cx="956933" cy="178532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0477" y="4441848"/>
              <a:ext cx="480275" cy="452937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9244799" y="4957655"/>
              <a:ext cx="7489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</a:t>
              </a:r>
              <a:r>
                <a:rPr lang="zh-CN" altLang="en-US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信洗衣</a:t>
              </a:r>
              <a:r>
                <a:rPr lang="en-US" altLang="zh-CN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服务号</a:t>
              </a:r>
              <a:endPara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" name="Picture 4" descr="http://pic.baike.soso.com/p/20130513/bki-20130513150144-196987281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790" y="4746135"/>
            <a:ext cx="453148" cy="45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5826938" y="48135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387765" y="3184286"/>
            <a:ext cx="798956" cy="434959"/>
            <a:chOff x="2251916" y="3750867"/>
            <a:chExt cx="798956" cy="434959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9946" y="3750867"/>
              <a:ext cx="430926" cy="430926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2251916" y="3924216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WIFI</a:t>
              </a:r>
              <a:endPara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366776" y="3208341"/>
            <a:ext cx="3247103" cy="2733341"/>
            <a:chOff x="7934155" y="3871863"/>
            <a:chExt cx="3247103" cy="2733341"/>
          </a:xfrm>
        </p:grpSpPr>
        <p:sp>
          <p:nvSpPr>
            <p:cNvPr id="17" name="矩形 16"/>
            <p:cNvSpPr/>
            <p:nvPr/>
          </p:nvSpPr>
          <p:spPr>
            <a:xfrm>
              <a:off x="7934155" y="3871863"/>
              <a:ext cx="3247103" cy="2305161"/>
            </a:xfrm>
            <a:prstGeom prst="rect">
              <a:avLst/>
            </a:prstGeom>
            <a:noFill/>
            <a:ln w="3175">
              <a:solidFill>
                <a:srgbClr val="09A8B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080378" y="6235872"/>
              <a:ext cx="2954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自助</a:t>
              </a:r>
              <a:r>
                <a:rPr lang="zh-CN" altLang="en-US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洗衣房（校园、酒店）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9" name="肘形连接符 18"/>
          <p:cNvCxnSpPr>
            <a:stCxn id="8" idx="3"/>
            <a:endCxn id="11" idx="1"/>
          </p:cNvCxnSpPr>
          <p:nvPr/>
        </p:nvCxnSpPr>
        <p:spPr>
          <a:xfrm>
            <a:off x="6735574" y="3934993"/>
            <a:ext cx="2204216" cy="1037716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943120" y="4058213"/>
            <a:ext cx="95205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扫描二维码或通过其他识别机制，完成支付、启动洗衣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61233" y="4453086"/>
            <a:ext cx="644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物联网</a:t>
            </a:r>
            <a:r>
              <a:rPr lang="en-US" altLang="zh-CN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洗衣机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26693" y="4269022"/>
            <a:ext cx="905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二维码或其他标识符</a:t>
            </a:r>
            <a:endParaRPr lang="zh-CN" altLang="en-US" sz="1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541524" y="1356184"/>
            <a:ext cx="2290759" cy="1394890"/>
            <a:chOff x="2403139" y="2503510"/>
            <a:chExt cx="2290759" cy="1394890"/>
          </a:xfrm>
        </p:grpSpPr>
        <p:grpSp>
          <p:nvGrpSpPr>
            <p:cNvPr id="24" name="组合 23"/>
            <p:cNvGrpSpPr/>
            <p:nvPr/>
          </p:nvGrpSpPr>
          <p:grpSpPr>
            <a:xfrm>
              <a:off x="2403139" y="2503510"/>
              <a:ext cx="2290759" cy="1394890"/>
              <a:chOff x="5422050" y="2676526"/>
              <a:chExt cx="1990013" cy="1125369"/>
            </a:xfrm>
            <a:solidFill>
              <a:srgbClr val="09A8BE"/>
            </a:solidFill>
          </p:grpSpPr>
          <p:sp>
            <p:nvSpPr>
              <p:cNvPr id="26" name="椭圆 25"/>
              <p:cNvSpPr/>
              <p:nvPr/>
            </p:nvSpPr>
            <p:spPr>
              <a:xfrm>
                <a:off x="6013210" y="2676526"/>
                <a:ext cx="1178725" cy="11239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422050" y="3018842"/>
                <a:ext cx="884621" cy="7830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747218" y="2780835"/>
                <a:ext cx="684991" cy="5620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6710363" y="3162882"/>
                <a:ext cx="701700" cy="63901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5784352" y="3354220"/>
                <a:ext cx="1337456" cy="447675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2631689" y="3079548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小天鹅云洗衣房</a:t>
              </a: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b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SaaS</a:t>
              </a:r>
              <a:r>
                <a:rPr lang="zh-CN" altLang="en-US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67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5909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第一期</a:t>
            </a:r>
            <a:r>
              <a:rPr lang="en-US" altLang="zh-CN" sz="3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PoC</a:t>
            </a:r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阶段：进度计划安排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658432"/>
              </p:ext>
            </p:extLst>
          </p:nvPr>
        </p:nvGraphicFramePr>
        <p:xfrm>
          <a:off x="983226" y="1417757"/>
          <a:ext cx="10559845" cy="48193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45767"/>
                <a:gridCol w="1646501"/>
                <a:gridCol w="3032482"/>
                <a:gridCol w="4335095"/>
              </a:tblGrid>
              <a:tr h="724374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起始时间</a:t>
                      </a:r>
                      <a:endParaRPr lang="zh-CN" altLang="en-US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结束时间（</a:t>
                      </a:r>
                      <a:r>
                        <a:rPr lang="en-US" altLang="zh-CN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Deadline</a:t>
                      </a:r>
                      <a:r>
                        <a:rPr lang="zh-CN" altLang="en-US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）</a:t>
                      </a:r>
                      <a:endParaRPr lang="zh-CN" altLang="en-US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安排</a:t>
                      </a:r>
                      <a:endParaRPr lang="zh-CN" altLang="en-US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里程碑</a:t>
                      </a:r>
                      <a:endParaRPr lang="zh-CN" altLang="en-US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Oct 12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Oct 12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第一次交流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12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13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初提案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Oct 14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上午九点前提供：提案初稿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13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16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核心人员及技术方案准备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32908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19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24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落实开发团队，进场启动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Oct 19 – 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确定技术实现方案和团队投入预估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Oct 26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Oct 31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需求分析及概要设计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Oct 31 -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User Story Spec &amp; HLD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Nov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Nov 10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界面原型设计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Nov 10 - UI Design Spec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Nov</a:t>
                      </a:r>
                      <a:r>
                        <a:rPr lang="en-US" altLang="zh-CN" sz="1400" baseline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Dec 15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开发实现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Dec 15 – Alpha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（内测版）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419677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Dec 16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Dec 21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集成测试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  <a:tr h="724374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Dec 22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2015 Dec 31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部署及</a:t>
                      </a:r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Beta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（公测版）上线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Dec 31 – Beta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，所有第一阶段功能覆盖</a:t>
                      </a:r>
                      <a:r>
                        <a:rPr lang="en-US" altLang="zh-CN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100%</a:t>
                      </a:r>
                      <a:r>
                        <a:rPr lang="zh-CN" altLang="en-US" sz="14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，开始准备公测（外部测试）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70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196" y="504760"/>
            <a:ext cx="38779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合作方人员投入计划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97445" y="1952343"/>
            <a:ext cx="1891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/>
              <a:t>PM × 1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595" y="1214222"/>
            <a:ext cx="1701587" cy="21841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58" y="3903405"/>
            <a:ext cx="1169163" cy="15140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3734" y="5417429"/>
            <a:ext cx="1755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UI &amp; UE × 1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937" y="3903406"/>
            <a:ext cx="1110833" cy="15140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770" y="3903406"/>
            <a:ext cx="1110833" cy="15140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67194" y="5417429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PG(H5) × 2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762" y="3903405"/>
            <a:ext cx="1110833" cy="15140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595" y="3903405"/>
            <a:ext cx="1110833" cy="151402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415663" y="5417428"/>
            <a:ext cx="2628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PG(</a:t>
            </a:r>
            <a:r>
              <a:rPr lang="en-US" altLang="zh-CN" sz="2400" dirty="0" err="1" smtClean="0"/>
              <a:t>Serverside</a:t>
            </a:r>
            <a:r>
              <a:rPr lang="en-US" altLang="zh-CN" sz="2400" dirty="0" smtClean="0"/>
              <a:t>) × 2</a:t>
            </a: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975" y="3903405"/>
            <a:ext cx="1197533" cy="151402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64639" y="5417429"/>
            <a:ext cx="2333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Architecture × 1</a:t>
            </a:r>
            <a:endParaRPr lang="zh-CN" altLang="en-US" sz="2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709" y="3903405"/>
            <a:ext cx="1205936" cy="151402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300506" y="5417427"/>
            <a:ext cx="1170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QA × 1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87123" y="1274410"/>
            <a:ext cx="2280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第一期投入约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10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8010" y="2828836"/>
            <a:ext cx="45159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7200" b="1" dirty="0" smtClean="0">
                <a:solidFill>
                  <a:srgbClr val="09A8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HANKS</a:t>
            </a:r>
            <a:r>
              <a:rPr lang="en-US" altLang="zh-CN" sz="7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7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7197" y="6461277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2015 Oct 13th</a:t>
            </a:r>
            <a:endParaRPr lang="zh-CN" altLang="en-US" sz="11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824" y="5751871"/>
            <a:ext cx="1847339" cy="61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5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anYan2.potx" id="{53D8CBCC-685F-4DA9-A816-1E0585DAA6B4}" vid="{5ACFB954-3D6A-476B-B236-196D629156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IanYan2</Template>
  <TotalTime>784</TotalTime>
  <Words>1666</Words>
  <Application>Microsoft Office PowerPoint</Application>
  <PresentationFormat>宽屏</PresentationFormat>
  <Paragraphs>200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黑体</vt:lpstr>
      <vt:lpstr>宋体</vt:lpstr>
      <vt:lpstr>微软雅黑</vt:lpstr>
      <vt:lpstr>微软雅黑 Light</vt:lpstr>
      <vt:lpstr>Arial</vt:lpstr>
      <vt:lpstr>Calibri</vt:lpstr>
      <vt:lpstr>Office 主题</vt:lpstr>
      <vt:lpstr>小天鹅云洗衣房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小天鹅云洗衣房</dc:title>
  <dc:creator>Ian Yan</dc:creator>
  <cp:lastModifiedBy>danne</cp:lastModifiedBy>
  <cp:revision>48</cp:revision>
  <dcterms:created xsi:type="dcterms:W3CDTF">2015-10-13T12:52:56Z</dcterms:created>
  <dcterms:modified xsi:type="dcterms:W3CDTF">2015-10-20T07:40:02Z</dcterms:modified>
</cp:coreProperties>
</file>